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DeepSeek OCR vs Qwen VL</a:t>
            </a:r>
          </a:p>
          <a:p>
            <a:r>
              <a:t>비교 분석 보고서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문서 파싱 성능 및 품질 평가</a:t>
            </a:r>
          </a:p>
          <a:p>
            <a:r>
              <a:t>2025-12-21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개요 (Overview)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테스트 대상 및 환경</a:t>
            </a:r>
          </a:p>
          <a:p>
            <a:pPr lvl="1"/>
            <a:r>
              <a:t>문서: nvme_short.pdf (총 20페이지)</a:t>
            </a:r>
          </a:p>
          <a:p>
            <a:pPr lvl="1"/>
            <a:r>
              <a:t>비교 모델:</a:t>
            </a:r>
          </a:p>
          <a:p>
            <a:pPr lvl="2"/>
            <a:r>
              <a:t>DeepSeek OCR (deepseek-ocr:latest)</a:t>
            </a:r>
          </a:p>
          <a:p>
            <a:pPr lvl="2"/>
            <a:r>
              <a:t>Qwen VL (qwen3-vl:32b-instruct-q4_K_M)</a:t>
            </a:r>
          </a:p>
          <a:p>
            <a:pPr lvl="1"/>
            <a:r>
              <a:t>테스트 결과: Qwen 모델의 속도 이슈로 16페이지까지 데이터 수집 후 분석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속도 비교 (Performance)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DeepSeek OCR이 약 12배 더 빠름</a:t>
            </a:r>
          </a:p>
          <a:p>
            <a:pPr>
              <a:defRPr b="1"/>
            </a:pPr>
            <a:r>
              <a:t>평균 처리 시간 (페이지당)</a:t>
            </a:r>
          </a:p>
          <a:p>
            <a:pPr lvl="1"/>
            <a:r>
              <a:t>DeepSeek: 약 11초</a:t>
            </a:r>
          </a:p>
          <a:p>
            <a:pPr lvl="1"/>
            <a:r>
              <a:t>Qwen VL: 약 135초 (2분 15초)</a:t>
            </a:r>
          </a:p>
          <a:p>
            <a:pPr>
              <a:defRPr b="1"/>
            </a:pPr>
            <a:r>
              <a:t>전체 소요 시간 (16페이지 기준)</a:t>
            </a:r>
          </a:p>
          <a:p>
            <a:pPr lvl="1"/>
            <a:r>
              <a:t>DeepSeek: 약 3분</a:t>
            </a:r>
          </a:p>
          <a:p>
            <a:pPr lvl="1"/>
            <a:r>
              <a:t>Qwen VL: 약 36분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품질 비교 (Quality)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>
                <a:solidFill>
                  <a:srgbClr val="0070C0"/>
                </a:solidFill>
              </a:defRPr>
            </a:pPr>
            <a:r>
              <a:t>DeepSeek OCR</a:t>
            </a:r>
          </a:p>
          <a:p>
            <a:pPr lvl="1"/>
            <a:r>
              <a:t>장점: 빠른 속도, 높은 텍스트 인식률</a:t>
            </a:r>
          </a:p>
          <a:p>
            <a:pPr lvl="1"/>
            <a:r>
              <a:t>단점: 구조화 부족 (단순 텍스트 나열), 불필요한 태그 포함</a:t>
            </a:r>
          </a:p>
          <a:p>
            <a:pPr>
              <a:defRPr b="1">
                <a:solidFill>
                  <a:srgbClr val="C00000"/>
                </a:solidFill>
              </a:defRPr>
            </a:pPr>
            <a:r>
              <a:t>Qwen VL</a:t>
            </a:r>
          </a:p>
          <a:p>
            <a:pPr lvl="1"/>
            <a:r>
              <a:t>장점: 완벽한 Markdown 구조화 (목차, 표, 헤더 인식 우수)</a:t>
            </a:r>
          </a:p>
          <a:p>
            <a:pPr lvl="1"/>
            <a:r>
              <a:t>단점: 매우 느린 속도, 간헐적 응답 지연(Hang)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결론 및 제언 (Conclusion)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사용 목적에 따른 모델 선택 권장</a:t>
            </a:r>
          </a:p>
          <a:p>
            <a:pPr lvl="1">
              <a:defRPr b="1"/>
            </a:pPr>
            <a:r>
              <a:t>대량 문서의 빠른 처리 → DeepSeek OCR</a:t>
            </a:r>
          </a:p>
          <a:p>
            <a:pPr lvl="2"/>
            <a:r>
              <a:t>텍스트 검색, 단순 인덱싱 목적에 적합</a:t>
            </a:r>
          </a:p>
          <a:p>
            <a:pPr lvl="1">
              <a:defRPr b="1"/>
            </a:pPr>
            <a:r>
              <a:t>고품질 구조화 문서 필요 → Qwen VL</a:t>
            </a:r>
          </a:p>
          <a:p>
            <a:pPr lvl="2"/>
            <a:r>
              <a:t>RAG 구축, 표/서식 보존이 필수적인 경우 적합</a:t>
            </a:r>
          </a:p>
          <a:p>
            <a:pPr lvl="2"/>
            <a:r>
              <a:t>단, 배치 작업으로 처리 시간을 확보해야 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